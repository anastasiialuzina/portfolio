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sty\OneDrive\Desktop\&#1053;&#1086;&#1074;&#1080;&#1081;%20Microsoft%20Excel%20Work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sty\OneDrive\Desktop\&#1053;&#1086;&#1074;&#1080;&#1081;%20Microsoft%20Excel%20Work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nasty\OneDrive\Desktop\&#1053;&#1086;&#1074;&#1080;&#1081;%20Microsoft%20Excel%20Work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3200"/>
              <a:t>Перевірки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bar"/>
        <c:grouping val="clustered"/>
        <c:varyColors val="0"/>
        <c:ser>
          <c:idx val="1"/>
          <c:order val="1"/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Таблиця!$E$1:$G$1</c:f>
              <c:strCache>
                <c:ptCount val="3"/>
                <c:pt idx="0">
                  <c:v>Загальна кількість перевірок</c:v>
                </c:pt>
                <c:pt idx="1">
                  <c:v>Успішно</c:v>
                </c:pt>
                <c:pt idx="2">
                  <c:v>Неуспішно</c:v>
                </c:pt>
              </c:strCache>
            </c:strRef>
          </c:cat>
          <c:val>
            <c:numRef>
              <c:f>Таблиця!$E$21:$G$21</c:f>
              <c:numCache>
                <c:formatCode>General</c:formatCode>
                <c:ptCount val="3"/>
                <c:pt idx="0">
                  <c:v>333</c:v>
                </c:pt>
                <c:pt idx="1">
                  <c:v>272</c:v>
                </c:pt>
                <c:pt idx="2">
                  <c:v>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62B-451A-B807-0F9DDE92A2B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130136127"/>
        <c:axId val="213013779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spPr>
                  <a:solidFill>
                    <a:schemeClr val="accent1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uk-UA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Таблиця!$E$1:$G$1</c15:sqref>
                        </c15:formulaRef>
                      </c:ext>
                    </c:extLst>
                    <c:strCache>
                      <c:ptCount val="3"/>
                      <c:pt idx="0">
                        <c:v>Загальна кількість перевірок</c:v>
                      </c:pt>
                      <c:pt idx="1">
                        <c:v>Успішно</c:v>
                      </c:pt>
                      <c:pt idx="2">
                        <c:v>Неуспішно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Таблиця!$E$2:$G$2</c15:sqref>
                        </c15:formulaRef>
                      </c:ext>
                    </c:extLst>
                    <c:numCache>
                      <c:formatCode>General</c:formatCode>
                      <c:ptCount val="3"/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62B-451A-B807-0F9DDE92A2BD}"/>
                  </c:ext>
                </c:extLst>
              </c15:ser>
            </c15:filteredBarSeries>
          </c:ext>
        </c:extLst>
      </c:barChart>
      <c:catAx>
        <c:axId val="21301361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cap="all" normalizeH="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130137791"/>
        <c:crosses val="autoZero"/>
        <c:auto val="1"/>
        <c:lblAlgn val="ctr"/>
        <c:lblOffset val="100"/>
        <c:noMultiLvlLbl val="0"/>
      </c:catAx>
      <c:valAx>
        <c:axId val="2130137791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13013612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3200"/>
              <a:t>Кількість багів у кожній складовій</a:t>
            </a:r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Таблиця!$H$1</c:f>
              <c:strCache>
                <c:ptCount val="1"/>
                <c:pt idx="0">
                  <c:v>Кількість баг-репортів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Таблиця!$B$2:$B$20</c:f>
              <c:strCache>
                <c:ptCount val="19"/>
                <c:pt idx="1">
                  <c:v>Головна сторінка реєстрації</c:v>
                </c:pt>
                <c:pt idx="2">
                  <c:v>Модальне вікно "Умови та правила участі в проєкті"</c:v>
                </c:pt>
                <c:pt idx="3">
                  <c:v>Модальне вікно "Згода на обробку персональних даних"</c:v>
                </c:pt>
                <c:pt idx="4">
                  <c:v>Анкета учасника поле для вводу "Ім'я"</c:v>
                </c:pt>
                <c:pt idx="5">
                  <c:v>Анкета учасника поле для вводу "Прізвище"</c:v>
                </c:pt>
                <c:pt idx="6">
                  <c:v>Анкета учасника поле для вводу "Спеціалізація (Стек)"</c:v>
                </c:pt>
                <c:pt idx="7">
                  <c:v>Анкета учасника поле для вводу "Телефон"</c:v>
                </c:pt>
                <c:pt idx="8">
                  <c:v>Анкета учасника поле для вводу "Електронна пошта"</c:v>
                </c:pt>
                <c:pt idx="9">
                  <c:v>Анкета учасника поле для вводу "акаунт Discord"</c:v>
                </c:pt>
                <c:pt idx="10">
                  <c:v>Анкета учасника поле для вводу "акаунт LinkedIn"</c:v>
                </c:pt>
                <c:pt idx="11">
                  <c:v>Анкета учасника поле для вводу "Місто (Країна)"</c:v>
                </c:pt>
                <c:pt idx="12">
                  <c:v>Анкета учасника дропдаун "Наявність досвіду"</c:v>
                </c:pt>
                <c:pt idx="13">
                  <c:v>Анкета учасника дропдаун "Тип участі"</c:v>
                </c:pt>
                <c:pt idx="14">
                  <c:v>Анкета учасника дропдаун "Проєкт на вибір"</c:v>
                </c:pt>
                <c:pt idx="15">
                  <c:v>Анкета учасника чек-бокс "Ознайомлений/на з умовами участі в проєкті"</c:v>
                </c:pt>
                <c:pt idx="16">
                  <c:v>Анкета учасника чек-бокс "Погоджуюсь з обробкою персональних даних"</c:v>
                </c:pt>
                <c:pt idx="17">
                  <c:v>Анкета учасника кнопка "Відправити анкету"</c:v>
                </c:pt>
                <c:pt idx="18">
                  <c:v>Фінальне повідомлення</c:v>
                </c:pt>
              </c:strCache>
            </c:strRef>
          </c:cat>
          <c:val>
            <c:numRef>
              <c:f>Таблиця!$H$2:$H$20</c:f>
              <c:numCache>
                <c:formatCode>General</c:formatCode>
                <c:ptCount val="19"/>
                <c:pt idx="1">
                  <c:v>1</c:v>
                </c:pt>
                <c:pt idx="2">
                  <c:v>5</c:v>
                </c:pt>
                <c:pt idx="3">
                  <c:v>2</c:v>
                </c:pt>
                <c:pt idx="4">
                  <c:v>5</c:v>
                </c:pt>
                <c:pt idx="5">
                  <c:v>4</c:v>
                </c:pt>
                <c:pt idx="6">
                  <c:v>1</c:v>
                </c:pt>
                <c:pt idx="7">
                  <c:v>3</c:v>
                </c:pt>
                <c:pt idx="8">
                  <c:v>2</c:v>
                </c:pt>
                <c:pt idx="9">
                  <c:v>6</c:v>
                </c:pt>
                <c:pt idx="10">
                  <c:v>4</c:v>
                </c:pt>
                <c:pt idx="11">
                  <c:v>1</c:v>
                </c:pt>
                <c:pt idx="12">
                  <c:v>2</c:v>
                </c:pt>
                <c:pt idx="13">
                  <c:v>2</c:v>
                </c:pt>
                <c:pt idx="14">
                  <c:v>3</c:v>
                </c:pt>
                <c:pt idx="15">
                  <c:v>1</c:v>
                </c:pt>
                <c:pt idx="16">
                  <c:v>1</c:v>
                </c:pt>
                <c:pt idx="17">
                  <c:v>2</c:v>
                </c:pt>
                <c:pt idx="18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D7A-4813-8D9F-58488A82B12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130199199"/>
        <c:axId val="2130196703"/>
      </c:barChart>
      <c:catAx>
        <c:axId val="2130199199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130196703"/>
        <c:crosses val="autoZero"/>
        <c:auto val="1"/>
        <c:lblAlgn val="ctr"/>
        <c:lblOffset val="100"/>
        <c:noMultiLvlLbl val="0"/>
      </c:catAx>
      <c:valAx>
        <c:axId val="2130196703"/>
        <c:scaling>
          <c:orientation val="minMax"/>
          <c:max val="6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uk-UA"/>
          </a:p>
        </c:txPr>
        <c:crossAx val="21301991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uk-UA" sz="3200"/>
              <a:t>Кількість</a:t>
            </a:r>
            <a:r>
              <a:rPr lang="uk-UA" sz="3200" baseline="0"/>
              <a:t> багів по пріоритетам</a:t>
            </a:r>
            <a:endParaRPr lang="uk-UA" sz="3200"/>
          </a:p>
        </c:rich>
      </c:tx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FE93-4820-ADDB-D401AA7AF0B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FE93-4820-ADDB-D401AA7AF0B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FE93-4820-ADDB-D401AA7AF0BD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uk-UA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layout/>
              </c:ext>
            </c:extLst>
          </c:dLbls>
          <c:cat>
            <c:multiLvlStrRef>
              <c:f>Таблиця!$I$1:$K$2</c:f>
              <c:multiLvlStrCache>
                <c:ptCount val="3"/>
                <c:lvl>
                  <c:pt idx="0">
                    <c:v>LOW</c:v>
                  </c:pt>
                  <c:pt idx="1">
                    <c:v>MEDIUM</c:v>
                  </c:pt>
                  <c:pt idx="2">
                    <c:v>HIGH</c:v>
                  </c:pt>
                </c:lvl>
                <c:lvl>
                  <c:pt idx="0">
                    <c:v>Пріоритет баг-репортів</c:v>
                  </c:pt>
                </c:lvl>
              </c:multiLvlStrCache>
            </c:multiLvlStrRef>
          </c:cat>
          <c:val>
            <c:numRef>
              <c:f>Таблиця!$I$21:$K$21</c:f>
              <c:numCache>
                <c:formatCode>General</c:formatCode>
                <c:ptCount val="3"/>
                <c:pt idx="0">
                  <c:v>21</c:v>
                </c:pt>
                <c:pt idx="1">
                  <c:v>21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FE93-4820-ADDB-D401AA7AF0BD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layout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uk-UA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uk-UA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9386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361008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34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43753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4900847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87567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43312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29456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55228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19434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472609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88FEB7-15EC-4354-888F-348E7881BD43}" type="datetimeFigureOut">
              <a:rPr lang="uk-UA" smtClean="0"/>
              <a:t>02.08.2023</a:t>
            </a:fld>
            <a:endParaRPr lang="uk-U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294D89C-356B-4BC4-8CEA-424B77B3CA05}" type="slidenum">
              <a:rPr lang="uk-UA" smtClean="0"/>
              <a:t>‹#›</a:t>
            </a:fld>
            <a:endParaRPr lang="uk-UA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9297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97280" y="0"/>
            <a:ext cx="10058400" cy="4325112"/>
          </a:xfrm>
        </p:spPr>
        <p:txBody>
          <a:bodyPr>
            <a:noAutofit/>
          </a:bodyPr>
          <a:lstStyle/>
          <a:p>
            <a:pPr algn="ctr"/>
            <a:r>
              <a:rPr lang="ru-RU" sz="4000" dirty="0"/>
              <a:t>Тест-репорт</a:t>
            </a:r>
            <a:br>
              <a:rPr lang="ru-RU" sz="4000" dirty="0"/>
            </a:b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 err="1" smtClean="0"/>
              <a:t>Проєкт</a:t>
            </a:r>
            <a:r>
              <a:rPr lang="ru-RU" sz="4000" dirty="0"/>
              <a:t>: FEEDA </a:t>
            </a:r>
            <a:r>
              <a:rPr lang="ru-RU" sz="4000" dirty="0" smtClean="0"/>
              <a:t/>
            </a:r>
            <a:br>
              <a:rPr lang="ru-RU" sz="4000" dirty="0" smtClean="0"/>
            </a:br>
            <a:r>
              <a:rPr lang="ru-RU" sz="4000" dirty="0" smtClean="0"/>
              <a:t>Область </a:t>
            </a:r>
            <a:r>
              <a:rPr lang="ru-RU" sz="4000" dirty="0" err="1"/>
              <a:t>тестування</a:t>
            </a:r>
            <a:r>
              <a:rPr lang="ru-RU" sz="4000" dirty="0"/>
              <a:t>: </a:t>
            </a:r>
            <a:r>
              <a:rPr lang="ru-RU" sz="4000" dirty="0" err="1"/>
              <a:t>Реєстрація</a:t>
            </a:r>
            <a:r>
              <a:rPr lang="ru-RU" sz="4000" dirty="0"/>
              <a:t> </a:t>
            </a:r>
            <a:r>
              <a:rPr lang="ru-RU" sz="4000" dirty="0" err="1"/>
              <a:t>учасника</a:t>
            </a: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/>
              <a:t/>
            </a:r>
            <a:br>
              <a:rPr lang="ru-RU" sz="4000" dirty="0"/>
            </a:br>
            <a:r>
              <a:rPr lang="ru-RU" sz="4000" dirty="0"/>
              <a:t>Тестер: </a:t>
            </a:r>
            <a:r>
              <a:rPr lang="ru-RU" sz="4000" dirty="0" err="1"/>
              <a:t>Анастасія</a:t>
            </a:r>
            <a:r>
              <a:rPr lang="ru-RU" sz="4000" dirty="0"/>
              <a:t> </a:t>
            </a:r>
            <a:r>
              <a:rPr lang="ru-RU" sz="4000" dirty="0" err="1"/>
              <a:t>Лузіна</a:t>
            </a:r>
            <a:r>
              <a:rPr lang="ru-RU" sz="4000" dirty="0"/>
              <a:t/>
            </a:r>
            <a:br>
              <a:rPr lang="ru-RU" sz="4000" dirty="0"/>
            </a:br>
            <a:endParaRPr lang="uk-UA" sz="40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Дата: 02.08.2023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64126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ОПИС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Проведено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функціональності</a:t>
            </a:r>
            <a:r>
              <a:rPr lang="ru-RU" dirty="0"/>
              <a:t> </a:t>
            </a:r>
            <a:r>
              <a:rPr lang="ru-RU" dirty="0" err="1"/>
              <a:t>реєстрації</a:t>
            </a:r>
            <a:r>
              <a:rPr lang="ru-RU" dirty="0"/>
              <a:t> </a:t>
            </a:r>
            <a:r>
              <a:rPr lang="ru-RU" dirty="0" err="1"/>
              <a:t>учасника</a:t>
            </a:r>
            <a:r>
              <a:rPr lang="ru-RU" dirty="0"/>
              <a:t> в </a:t>
            </a:r>
            <a:r>
              <a:rPr lang="ru-RU" dirty="0" err="1"/>
              <a:t>Baza</a:t>
            </a:r>
            <a:r>
              <a:rPr lang="ru-RU" dirty="0"/>
              <a:t> </a:t>
            </a:r>
            <a:r>
              <a:rPr lang="ru-RU" dirty="0" err="1"/>
              <a:t>Trainee</a:t>
            </a:r>
            <a:r>
              <a:rPr lang="ru-RU" dirty="0"/>
              <a:t> </a:t>
            </a:r>
            <a:r>
              <a:rPr lang="ru-RU" dirty="0" err="1"/>
              <a:t>Ukraine</a:t>
            </a:r>
            <a:r>
              <a:rPr lang="ru-RU" dirty="0"/>
              <a:t>.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проводилося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наступних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/>
              <a:t>Вивчення</a:t>
            </a:r>
            <a:r>
              <a:rPr lang="ru-RU" dirty="0"/>
              <a:t> </a:t>
            </a:r>
            <a:r>
              <a:rPr lang="ru-RU" dirty="0" err="1" smtClean="0"/>
              <a:t>технічного</a:t>
            </a:r>
            <a:r>
              <a:rPr lang="ru-RU" dirty="0" smtClean="0"/>
              <a:t> </a:t>
            </a:r>
            <a:r>
              <a:rPr lang="ru-RU" dirty="0" err="1" smtClean="0"/>
              <a:t>завдання</a:t>
            </a:r>
            <a:r>
              <a:rPr lang="ru-RU" dirty="0" smtClean="0"/>
              <a:t> продукту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/>
              <a:t>Вивчення</a:t>
            </a:r>
            <a:r>
              <a:rPr lang="ru-RU" dirty="0"/>
              <a:t> макету </a:t>
            </a:r>
            <a:r>
              <a:rPr lang="ru-RU" dirty="0" smtClean="0"/>
              <a:t>дизайну</a:t>
            </a:r>
            <a:endParaRPr lang="ru-RU" dirty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Написання</a:t>
            </a:r>
            <a:r>
              <a:rPr lang="ru-RU" dirty="0" smtClean="0"/>
              <a:t> та </a:t>
            </a:r>
            <a:r>
              <a:rPr lang="ru-RU" dirty="0" err="1" smtClean="0"/>
              <a:t>вивчення</a:t>
            </a:r>
            <a:r>
              <a:rPr lang="ru-RU" dirty="0" smtClean="0"/>
              <a:t> </a:t>
            </a:r>
            <a:r>
              <a:rPr lang="ru-RU" dirty="0" err="1" smtClean="0"/>
              <a:t>юзерс-сторей</a:t>
            </a:r>
            <a:r>
              <a:rPr lang="ru-RU" dirty="0" smtClean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Створення</a:t>
            </a:r>
            <a:r>
              <a:rPr lang="ru-RU" dirty="0" smtClean="0"/>
              <a:t> чек-</a:t>
            </a:r>
            <a:r>
              <a:rPr lang="ru-RU" dirty="0" err="1" smtClean="0"/>
              <a:t>листів</a:t>
            </a:r>
            <a:r>
              <a:rPr lang="ru-RU" dirty="0" smtClean="0"/>
              <a:t> для </a:t>
            </a:r>
            <a:r>
              <a:rPr lang="ru-RU" dirty="0" err="1" smtClean="0"/>
              <a:t>тестування</a:t>
            </a:r>
            <a:r>
              <a:rPr lang="ru-RU" dirty="0" smtClean="0"/>
              <a:t> на </a:t>
            </a:r>
            <a:r>
              <a:rPr lang="ru-RU" dirty="0" err="1" smtClean="0"/>
              <a:t>основі</a:t>
            </a:r>
            <a:r>
              <a:rPr lang="ru-RU" dirty="0" smtClean="0"/>
              <a:t> </a:t>
            </a:r>
            <a:r>
              <a:rPr lang="ru-RU" dirty="0" err="1" smtClean="0"/>
              <a:t>методів</a:t>
            </a:r>
            <a:r>
              <a:rPr lang="ru-RU" dirty="0" smtClean="0"/>
              <a:t> </a:t>
            </a:r>
            <a:r>
              <a:rPr lang="ru-RU" dirty="0" err="1" smtClean="0"/>
              <a:t>чорного</a:t>
            </a:r>
            <a:r>
              <a:rPr lang="ru-RU" dirty="0" smtClean="0"/>
              <a:t> ящика та </a:t>
            </a:r>
            <a:r>
              <a:rPr lang="ru-RU" dirty="0" err="1" smtClean="0"/>
              <a:t>дослідницького</a:t>
            </a:r>
            <a:r>
              <a:rPr lang="ru-RU" dirty="0" smtClean="0"/>
              <a:t> </a:t>
            </a:r>
            <a:r>
              <a:rPr lang="ru-RU" dirty="0" err="1" smtClean="0"/>
              <a:t>тестування</a:t>
            </a:r>
            <a:endParaRPr lang="ru-RU" dirty="0" smtClean="0"/>
          </a:p>
          <a:p>
            <a:pPr>
              <a:buFont typeface="Wingdings" panose="05000000000000000000" pitchFamily="2" charset="2"/>
              <a:buChar char="Ø"/>
            </a:pPr>
            <a:r>
              <a:rPr lang="ru-RU" dirty="0" err="1" smtClean="0"/>
              <a:t>Використання</a:t>
            </a:r>
            <a:r>
              <a:rPr lang="ru-RU" dirty="0" smtClean="0"/>
              <a:t> </a:t>
            </a:r>
            <a:r>
              <a:rPr lang="ru-RU" dirty="0" err="1"/>
              <a:t>ручних</a:t>
            </a:r>
            <a:r>
              <a:rPr lang="ru-RU" dirty="0"/>
              <a:t> </a:t>
            </a:r>
            <a:r>
              <a:rPr lang="ru-RU" dirty="0" err="1" smtClean="0"/>
              <a:t>тестів</a:t>
            </a:r>
            <a:endParaRPr lang="ru-RU" dirty="0" smtClean="0"/>
          </a:p>
          <a:p>
            <a:pPr>
              <a:buFont typeface="Wingdings" panose="05000000000000000000" pitchFamily="2" charset="2"/>
              <a:buChar char="Ø"/>
            </a:pPr>
            <a:endParaRPr lang="ru-RU" dirty="0"/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080389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683215"/>
          </a:xfrm>
        </p:spPr>
        <p:txBody>
          <a:bodyPr>
            <a:normAutofit fontScale="90000"/>
          </a:bodyPr>
          <a:lstStyle/>
          <a:p>
            <a:r>
              <a:rPr lang="uk-UA" dirty="0" smtClean="0"/>
              <a:t>Аналітика тестування</a:t>
            </a:r>
            <a:endParaRPr lang="uk-UA" dirty="0"/>
          </a:p>
        </p:txBody>
      </p:sp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8546600"/>
              </p:ext>
            </p:extLst>
          </p:nvPr>
        </p:nvGraphicFramePr>
        <p:xfrm>
          <a:off x="0" y="928254"/>
          <a:ext cx="12192000" cy="5579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9320">
                  <a:extLst>
                    <a:ext uri="{9D8B030D-6E8A-4147-A177-3AD203B41FA5}">
                      <a16:colId xmlns:a16="http://schemas.microsoft.com/office/drawing/2014/main" val="4041165514"/>
                    </a:ext>
                  </a:extLst>
                </a:gridCol>
                <a:gridCol w="3226854">
                  <a:extLst>
                    <a:ext uri="{9D8B030D-6E8A-4147-A177-3AD203B41FA5}">
                      <a16:colId xmlns:a16="http://schemas.microsoft.com/office/drawing/2014/main" val="2116820116"/>
                    </a:ext>
                  </a:extLst>
                </a:gridCol>
                <a:gridCol w="1177138">
                  <a:extLst>
                    <a:ext uri="{9D8B030D-6E8A-4147-A177-3AD203B41FA5}">
                      <a16:colId xmlns:a16="http://schemas.microsoft.com/office/drawing/2014/main" val="72483214"/>
                    </a:ext>
                  </a:extLst>
                </a:gridCol>
                <a:gridCol w="819156">
                  <a:extLst>
                    <a:ext uri="{9D8B030D-6E8A-4147-A177-3AD203B41FA5}">
                      <a16:colId xmlns:a16="http://schemas.microsoft.com/office/drawing/2014/main" val="2347770533"/>
                    </a:ext>
                  </a:extLst>
                </a:gridCol>
                <a:gridCol w="1024182">
                  <a:extLst>
                    <a:ext uri="{9D8B030D-6E8A-4147-A177-3AD203B41FA5}">
                      <a16:colId xmlns:a16="http://schemas.microsoft.com/office/drawing/2014/main" val="3675096680"/>
                    </a:ext>
                  </a:extLst>
                </a:gridCol>
                <a:gridCol w="700072">
                  <a:extLst>
                    <a:ext uri="{9D8B030D-6E8A-4147-A177-3AD203B41FA5}">
                      <a16:colId xmlns:a16="http://schemas.microsoft.com/office/drawing/2014/main" val="665375220"/>
                    </a:ext>
                  </a:extLst>
                </a:gridCol>
                <a:gridCol w="846865">
                  <a:extLst>
                    <a:ext uri="{9D8B030D-6E8A-4147-A177-3AD203B41FA5}">
                      <a16:colId xmlns:a16="http://schemas.microsoft.com/office/drawing/2014/main" val="1737727059"/>
                    </a:ext>
                  </a:extLst>
                </a:gridCol>
                <a:gridCol w="846865">
                  <a:extLst>
                    <a:ext uri="{9D8B030D-6E8A-4147-A177-3AD203B41FA5}">
                      <a16:colId xmlns:a16="http://schemas.microsoft.com/office/drawing/2014/main" val="2846235713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630007556"/>
                    </a:ext>
                  </a:extLst>
                </a:gridCol>
                <a:gridCol w="541992">
                  <a:extLst>
                    <a:ext uri="{9D8B030D-6E8A-4147-A177-3AD203B41FA5}">
                      <a16:colId xmlns:a16="http://schemas.microsoft.com/office/drawing/2014/main" val="2922249221"/>
                    </a:ext>
                  </a:extLst>
                </a:gridCol>
                <a:gridCol w="688782">
                  <a:extLst>
                    <a:ext uri="{9D8B030D-6E8A-4147-A177-3AD203B41FA5}">
                      <a16:colId xmlns:a16="http://schemas.microsoft.com/office/drawing/2014/main" val="2990486362"/>
                    </a:ext>
                  </a:extLst>
                </a:gridCol>
                <a:gridCol w="688782">
                  <a:extLst>
                    <a:ext uri="{9D8B030D-6E8A-4147-A177-3AD203B41FA5}">
                      <a16:colId xmlns:a16="http://schemas.microsoft.com/office/drawing/2014/main" val="3450513762"/>
                    </a:ext>
                  </a:extLst>
                </a:gridCol>
              </a:tblGrid>
              <a:tr h="39991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Функціонал</a:t>
                      </a:r>
                      <a:endParaRPr lang="uk-U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Складова</a:t>
                      </a:r>
                      <a:endParaRPr lang="uk-U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Відповідальний</a:t>
                      </a:r>
                      <a:endParaRPr lang="uk-U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Кількість витраченого часу (години)</a:t>
                      </a:r>
                      <a:endParaRPr lang="uk-U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Загальна кількість перевірок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Успішно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Неуспішно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Кількість баг-репортів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Пріоритет баг-репортів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Відсоток успішних тестів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677586019"/>
                  </a:ext>
                </a:extLst>
              </a:tr>
              <a:tr h="133305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LOW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MEDIUM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u="none" strike="noStrike">
                          <a:effectLst/>
                        </a:rPr>
                        <a:t>HIGH</a:t>
                      </a:r>
                      <a:endParaRPr lang="en-US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836048"/>
                  </a:ext>
                </a:extLst>
              </a:tr>
              <a:tr h="126958">
                <a:tc rowSpan="18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Реєстрація учасника в </a:t>
                      </a:r>
                      <a:r>
                        <a:rPr lang="en-US" sz="1100" u="none" strike="noStrike">
                          <a:effectLst/>
                        </a:rPr>
                        <a:t>Baza Trainee Ukraine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Головна сторінка реєстрації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Анастасія Лузіна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0,4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86%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017649401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Модальне вікно "Умови та правила участі в проєкті"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Олена Шляхта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69%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862783873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Модальне вікно "Згода на обробку персональних даних"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Олена Шляхта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78%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725596788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 dirty="0">
                          <a:effectLst/>
                        </a:rPr>
                        <a:t>Анкета </a:t>
                      </a:r>
                      <a:r>
                        <a:rPr lang="ru-RU" sz="1100" u="none" strike="noStrike" dirty="0" err="1">
                          <a:effectLst/>
                        </a:rPr>
                        <a:t>учасника</a:t>
                      </a:r>
                      <a:r>
                        <a:rPr lang="ru-RU" sz="1100" u="none" strike="noStrike" dirty="0">
                          <a:effectLst/>
                        </a:rPr>
                        <a:t> поле для вводу "</a:t>
                      </a:r>
                      <a:r>
                        <a:rPr lang="ru-RU" sz="1100" u="none" strike="noStrike" dirty="0" err="1">
                          <a:effectLst/>
                        </a:rPr>
                        <a:t>Ім'я</a:t>
                      </a:r>
                      <a:r>
                        <a:rPr lang="ru-RU" sz="1100" u="none" strike="noStrike" dirty="0">
                          <a:effectLst/>
                        </a:rPr>
                        <a:t>"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Анастасія Лузіна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26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81%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264241180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"Прізвище"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Анастасія Лузіна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1,5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69%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561272561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"Спеціалізація (Стек)"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Анастасія Лузіна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92%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1772308904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"Телефон"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Анастасія Лузіна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0,8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14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10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71%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108367168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"Електронна пошта"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Анастасія Лузіна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32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91%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4288143911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"акаунт Discord"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Анастасія Лузіна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2,5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31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24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77%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852168520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"акаунт LinkedIn"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Ольга </a:t>
                      </a:r>
                      <a:r>
                        <a:rPr lang="uk-UA" sz="1100" u="none" strike="noStrike" dirty="0" err="1">
                          <a:effectLst/>
                        </a:rPr>
                        <a:t>Семененко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2,5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13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4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59%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543706999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поле для вводу "Місто (Країна)"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96%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1829113195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дропдаун "Наявність досвіду"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1,5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20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91%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703229635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дропдаун "Тип участі"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1,5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19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2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 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90%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442860938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дропдаун "Проєкт на вибір"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18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3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3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86%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514078672"/>
                  </a:ext>
                </a:extLst>
              </a:tr>
              <a:tr h="380874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чек-бокс "Ознайомлений/на з умовами участі в проєкті"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1,5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 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90%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375599851"/>
                  </a:ext>
                </a:extLst>
              </a:tr>
              <a:tr h="380874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чек-бокс "Погоджуюсь з обробкою персональних даних"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0,5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9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 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 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82%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886857642"/>
                  </a:ext>
                </a:extLst>
              </a:tr>
              <a:tr h="253916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100" u="none" strike="noStrike">
                          <a:effectLst/>
                        </a:rPr>
                        <a:t>Анкета учасника кнопка "Відправити анкету"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Ольга Семененко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1,5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8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1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 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67%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320257874"/>
                  </a:ext>
                </a:extLst>
              </a:tr>
              <a:tr h="126958">
                <a:tc v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Фінальне повідомлення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Олена Пилипенко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0</a:t>
                      </a:r>
                      <a:endParaRPr lang="uk-UA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0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100%</a:t>
                      </a:r>
                      <a:endParaRPr lang="uk-UA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1605065727"/>
                  </a:ext>
                </a:extLst>
              </a:tr>
              <a:tr h="133305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ВСЬОГО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uk-UA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30,2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333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272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61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45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21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21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>
                          <a:effectLst/>
                        </a:rPr>
                        <a:t>3</a:t>
                      </a:r>
                      <a:endParaRPr lang="uk-UA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uk-UA" sz="1100" u="none" strike="noStrike" dirty="0">
                          <a:effectLst/>
                        </a:rPr>
                        <a:t>81,88%</a:t>
                      </a:r>
                      <a:endParaRPr lang="uk-UA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997" marR="4997" marT="4997" marB="0" anchor="ctr"/>
                </a:tc>
                <a:extLst>
                  <a:ext uri="{0D108BD9-81ED-4DB2-BD59-A6C34878D82A}">
                    <a16:rowId xmlns:a16="http://schemas.microsoft.com/office/drawing/2014/main" val="20228505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9800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629003"/>
              </p:ext>
            </p:extLst>
          </p:nvPr>
        </p:nvGraphicFramePr>
        <p:xfrm>
          <a:off x="0" y="0"/>
          <a:ext cx="12192000" cy="6109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299482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0774837"/>
              </p:ext>
            </p:extLst>
          </p:nvPr>
        </p:nvGraphicFramePr>
        <p:xfrm>
          <a:off x="0" y="0"/>
          <a:ext cx="12192000" cy="609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36482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Диаграмм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4314301"/>
              </p:ext>
            </p:extLst>
          </p:nvPr>
        </p:nvGraphicFramePr>
        <p:xfrm>
          <a:off x="0" y="0"/>
          <a:ext cx="12192000" cy="60821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25411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smtClean="0"/>
              <a:t>Висновки</a:t>
            </a:r>
            <a:endParaRPr lang="uk-UA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uk-UA" sz="2400" dirty="0">
                <a:latin typeface="+mj-lt"/>
              </a:rPr>
              <a:t>Сумарна тривалість тестування: 30,2 години</a:t>
            </a:r>
          </a:p>
          <a:p>
            <a:r>
              <a:rPr lang="ru-RU" sz="2400" dirty="0" err="1">
                <a:latin typeface="+mj-lt"/>
              </a:rPr>
              <a:t>Всього</a:t>
            </a:r>
            <a:r>
              <a:rPr lang="ru-RU" sz="2400" dirty="0">
                <a:latin typeface="+mj-lt"/>
              </a:rPr>
              <a:t> </a:t>
            </a:r>
            <a:r>
              <a:rPr lang="ru-RU" sz="2400" dirty="0" err="1">
                <a:latin typeface="+mj-lt"/>
              </a:rPr>
              <a:t>було</a:t>
            </a:r>
            <a:r>
              <a:rPr lang="ru-RU" sz="2400" dirty="0">
                <a:latin typeface="+mj-lt"/>
              </a:rPr>
              <a:t> </a:t>
            </a:r>
            <a:r>
              <a:rPr lang="ru-RU" sz="2400" dirty="0" err="1">
                <a:latin typeface="+mj-lt"/>
              </a:rPr>
              <a:t>виконано</a:t>
            </a:r>
            <a:r>
              <a:rPr lang="ru-RU" sz="2400" dirty="0">
                <a:latin typeface="+mj-lt"/>
              </a:rPr>
              <a:t> 333 тести, з них 272 </a:t>
            </a:r>
            <a:r>
              <a:rPr lang="ru-RU" sz="2400" dirty="0" err="1">
                <a:latin typeface="+mj-lt"/>
              </a:rPr>
              <a:t>успішних</a:t>
            </a:r>
            <a:r>
              <a:rPr lang="ru-RU" sz="2400" dirty="0">
                <a:latin typeface="+mj-lt"/>
              </a:rPr>
              <a:t> і 61 </a:t>
            </a:r>
            <a:r>
              <a:rPr lang="ru-RU" sz="2400" dirty="0" err="1">
                <a:latin typeface="+mj-lt"/>
              </a:rPr>
              <a:t>неуспішних</a:t>
            </a:r>
            <a:r>
              <a:rPr lang="ru-RU" sz="2400" dirty="0">
                <a:latin typeface="+mj-lt"/>
              </a:rPr>
              <a:t>. </a:t>
            </a:r>
            <a:r>
              <a:rPr lang="ru-RU" sz="2400" dirty="0" err="1">
                <a:latin typeface="+mj-lt"/>
              </a:rPr>
              <a:t>Відсоток</a:t>
            </a:r>
            <a:r>
              <a:rPr lang="ru-RU" sz="2400" dirty="0">
                <a:latin typeface="+mj-lt"/>
              </a:rPr>
              <a:t> </a:t>
            </a:r>
            <a:r>
              <a:rPr lang="ru-RU" sz="2400" dirty="0" err="1">
                <a:latin typeface="+mj-lt"/>
              </a:rPr>
              <a:t>успішних</a:t>
            </a:r>
            <a:r>
              <a:rPr lang="ru-RU" sz="2400" dirty="0">
                <a:latin typeface="+mj-lt"/>
              </a:rPr>
              <a:t> </a:t>
            </a:r>
            <a:r>
              <a:rPr lang="ru-RU" sz="2400" dirty="0" err="1">
                <a:latin typeface="+mj-lt"/>
              </a:rPr>
              <a:t>тестів</a:t>
            </a:r>
            <a:r>
              <a:rPr lang="ru-RU" sz="2400" dirty="0">
                <a:latin typeface="+mj-lt"/>
              </a:rPr>
              <a:t> становить 81,88%.</a:t>
            </a:r>
            <a:r>
              <a:rPr lang="uk-UA" sz="2400" dirty="0" smtClean="0">
                <a:latin typeface="+mj-lt"/>
              </a:rPr>
              <a:t>Кількість </a:t>
            </a:r>
            <a:r>
              <a:rPr lang="uk-UA" sz="2400" dirty="0" err="1">
                <a:latin typeface="+mj-lt"/>
              </a:rPr>
              <a:t>баг</a:t>
            </a:r>
            <a:r>
              <a:rPr lang="uk-UA" sz="2400" dirty="0">
                <a:latin typeface="+mj-lt"/>
              </a:rPr>
              <a:t>-репортів: 45</a:t>
            </a:r>
          </a:p>
          <a:p>
            <a:r>
              <a:rPr lang="uk-UA" sz="2400" dirty="0" smtClean="0">
                <a:latin typeface="+mj-lt"/>
              </a:rPr>
              <a:t>Пріоритети </a:t>
            </a:r>
            <a:r>
              <a:rPr lang="uk-UA" sz="2400" dirty="0" err="1" smtClean="0">
                <a:latin typeface="+mj-lt"/>
              </a:rPr>
              <a:t>баг</a:t>
            </a:r>
            <a:r>
              <a:rPr lang="uk-UA" sz="2400" dirty="0" smtClean="0">
                <a:latin typeface="+mj-lt"/>
              </a:rPr>
              <a:t>-репортів: </a:t>
            </a:r>
            <a:r>
              <a:rPr lang="en-US" sz="2400" dirty="0" smtClean="0">
                <a:latin typeface="+mj-lt"/>
              </a:rPr>
              <a:t>LOW</a:t>
            </a:r>
            <a:r>
              <a:rPr lang="en-US" sz="2400" dirty="0">
                <a:latin typeface="+mj-lt"/>
              </a:rPr>
              <a:t>: </a:t>
            </a:r>
            <a:r>
              <a:rPr lang="en-US" sz="2400" dirty="0" smtClean="0">
                <a:latin typeface="+mj-lt"/>
              </a:rPr>
              <a:t>21</a:t>
            </a:r>
            <a:r>
              <a:rPr lang="uk-UA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MEDIUM</a:t>
            </a:r>
            <a:r>
              <a:rPr lang="en-US" sz="2400" dirty="0">
                <a:latin typeface="+mj-lt"/>
              </a:rPr>
              <a:t>: </a:t>
            </a:r>
            <a:r>
              <a:rPr lang="en-US" sz="2400" dirty="0" smtClean="0">
                <a:latin typeface="+mj-lt"/>
              </a:rPr>
              <a:t>21</a:t>
            </a:r>
            <a:r>
              <a:rPr lang="uk-UA" sz="2400" dirty="0" smtClean="0">
                <a:latin typeface="+mj-lt"/>
              </a:rPr>
              <a:t> </a:t>
            </a:r>
            <a:r>
              <a:rPr lang="en-US" sz="2400" dirty="0" smtClean="0">
                <a:latin typeface="+mj-lt"/>
              </a:rPr>
              <a:t>HIGH</a:t>
            </a:r>
            <a:r>
              <a:rPr lang="en-US" sz="2400" dirty="0">
                <a:latin typeface="+mj-lt"/>
              </a:rPr>
              <a:t>: 3</a:t>
            </a:r>
          </a:p>
          <a:p>
            <a:r>
              <a:rPr lang="uk-UA" sz="2400" dirty="0">
                <a:latin typeface="+mj-lt"/>
              </a:rPr>
              <a:t>Загалом, функціональність реєстрації учасника в </a:t>
            </a:r>
            <a:r>
              <a:rPr lang="en-US" sz="2400" dirty="0" err="1">
                <a:latin typeface="+mj-lt"/>
              </a:rPr>
              <a:t>Baza</a:t>
            </a:r>
            <a:r>
              <a:rPr lang="en-US" sz="2400" dirty="0">
                <a:latin typeface="+mj-lt"/>
              </a:rPr>
              <a:t> Trainee Ukraine </a:t>
            </a:r>
            <a:r>
              <a:rPr lang="uk-UA" sz="2400" dirty="0">
                <a:latin typeface="+mj-lt"/>
              </a:rPr>
              <a:t>відповідає специфікації продукту. Однак, </a:t>
            </a:r>
            <a:r>
              <a:rPr lang="uk-UA" sz="2400" dirty="0" smtClean="0">
                <a:latin typeface="+mj-lt"/>
              </a:rPr>
              <a:t>були виявлені дефекти, </a:t>
            </a:r>
            <a:r>
              <a:rPr lang="uk-UA" sz="2400" dirty="0">
                <a:latin typeface="+mj-lt"/>
              </a:rPr>
              <a:t>які повинні бути виправлені. Після виправлення дефектів продукт буде готовий до випуску.</a:t>
            </a:r>
            <a:endParaRPr lang="uk-UA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89439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Другая 2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666699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</TotalTime>
  <Words>509</Words>
  <Application>Microsoft Office PowerPoint</Application>
  <PresentationFormat>Широкоэкранный</PresentationFormat>
  <Paragraphs>240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Calibri</vt:lpstr>
      <vt:lpstr>Calibri Light</vt:lpstr>
      <vt:lpstr>Wingdings</vt:lpstr>
      <vt:lpstr>Ретро</vt:lpstr>
      <vt:lpstr>Тест-репорт  Проєкт: FEEDA  Область тестування: Реєстрація учасника  Тестер: Анастасія Лузіна </vt:lpstr>
      <vt:lpstr>ОПИС</vt:lpstr>
      <vt:lpstr>Аналітика тестування</vt:lpstr>
      <vt:lpstr>Презентация PowerPoint</vt:lpstr>
      <vt:lpstr>Презентация PowerPoint</vt:lpstr>
      <vt:lpstr>Презентация PowerPoint</vt:lpstr>
      <vt:lpstr>Висновки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Тест-репорт  Проєкт: FEEDA  Область тестування: Реєстрація учасника  Тестер: Анастасія Лузіна </dc:title>
  <dc:creator>олег Лузін</dc:creator>
  <cp:lastModifiedBy>олег Лузін</cp:lastModifiedBy>
  <cp:revision>4</cp:revision>
  <dcterms:created xsi:type="dcterms:W3CDTF">2023-08-02T11:14:36Z</dcterms:created>
  <dcterms:modified xsi:type="dcterms:W3CDTF">2023-08-02T12:45:49Z</dcterms:modified>
</cp:coreProperties>
</file>